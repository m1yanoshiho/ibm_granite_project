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94700"/>
  </p:normalViewPr>
  <p:slideViewPr>
    <p:cSldViewPr snapToGrid="0">
      <p:cViewPr varScale="1">
        <p:scale>
          <a:sx n="91" d="100"/>
          <a:sy n="91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F8F71F-D336-4DB9-BF31-AB918DE572C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1F6F0-8F64-4B59-8CDD-0A082A121B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4DE26-0A1F-4EC8-8FFA-D03C0EE60A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2498D-D5E4-42BF-A9C1-7440380C86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AB6A25-C58A-4FCA-BE31-C3C9B7F947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0F09FD-813C-417A-96EE-3405D3E51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40D94B-CE73-4371-B5BE-54513E63F5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65A13E-0742-41CF-93F9-876EDDF0A2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512B1E-D507-4AF7-998C-809CF708F6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520988-081F-473D-BB0C-91DCBE8DB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009AAD-042F-4BE4-95D0-C3CBB4A057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Reliable Evidence Flow for RAG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58440" y="94176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From Evidence Visibility to Answer Verifiability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2130480" y="2615040"/>
            <a:ext cx="58500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407120" y="2615040"/>
            <a:ext cx="45720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565320" y="2615040"/>
            <a:ext cx="45720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723160" y="2615040"/>
            <a:ext cx="45720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144000" y="2267640"/>
            <a:ext cx="360" cy="694800"/>
          </a:xfrm>
          <a:prstGeom prst="line">
            <a:avLst/>
          </a:prstGeom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144000" y="2267640"/>
            <a:ext cx="73080" cy="36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144000" y="2962440"/>
            <a:ext cx="73080" cy="36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58440" y="1965960"/>
            <a:ext cx="1481040" cy="1298160"/>
          </a:xfrm>
          <a:prstGeom prst="rect">
            <a:avLst/>
          </a:prstGeom>
          <a:solidFill>
            <a:srgbClr val="FFFFFF"/>
          </a:solidFill>
          <a:ln w="1524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86240" y="2039040"/>
            <a:ext cx="1225080" cy="11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Raw</a:t>
            </a:r>
            <a:endParaRPr lang="en-GB" sz="1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Documents</a:t>
            </a:r>
            <a:endParaRPr lang="en-GB" sz="1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2743200" y="1965960"/>
            <a:ext cx="1663920" cy="1862640"/>
          </a:xfrm>
          <a:prstGeom prst="rect">
            <a:avLst/>
          </a:prstGeom>
          <a:solidFill>
            <a:srgbClr val="FFFFFF"/>
          </a:solidFill>
          <a:ln w="2032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2907720" y="2258640"/>
            <a:ext cx="133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Retriever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862720" y="325512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</a:t>
            </a:r>
            <a:endParaRPr lang="en-GB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Visibility</a:t>
            </a:r>
            <a:endParaRPr lang="en-GB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901040" y="1965960"/>
            <a:ext cx="1663920" cy="1861920"/>
          </a:xfrm>
          <a:prstGeom prst="rect">
            <a:avLst/>
          </a:prstGeom>
          <a:solidFill>
            <a:srgbClr val="FFFFFF"/>
          </a:solidFill>
          <a:ln w="2032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065920" y="2258640"/>
            <a:ext cx="133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Selector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065920" y="268848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Reliability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7059240" y="1965960"/>
            <a:ext cx="1663920" cy="1859760"/>
          </a:xfrm>
          <a:prstGeom prst="rect">
            <a:avLst/>
          </a:prstGeom>
          <a:solidFill>
            <a:srgbClr val="FFFFFF"/>
          </a:solidFill>
          <a:ln w="2032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7223760" y="2258640"/>
            <a:ext cx="133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223760" y="268848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Answer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Verifiability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9217080" y="1965960"/>
            <a:ext cx="2304000" cy="60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9345240" y="2039040"/>
            <a:ext cx="204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Answer + Citations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9217080" y="2660760"/>
            <a:ext cx="2304000" cy="60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9345240" y="2734200"/>
            <a:ext cx="204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Honest Abstention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868680" y="4050720"/>
            <a:ext cx="10287000" cy="360"/>
          </a:xfrm>
          <a:prstGeom prst="line">
            <a:avLst/>
          </a:prstGeom>
          <a:ln w="1524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68680" y="4380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 provenance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1682640" y="388620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1719000" y="390456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658440" y="589788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Research Question  ·  Method  ·  Experimental Evidence  ·  Next Steps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Where Evidence Reliability Breaks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2230920" y="1938240"/>
            <a:ext cx="512280" cy="360"/>
          </a:xfrm>
          <a:prstGeom prst="line">
            <a:avLst/>
          </a:prstGeom>
          <a:ln w="1714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4315680" y="1938240"/>
            <a:ext cx="512280" cy="360"/>
          </a:xfrm>
          <a:prstGeom prst="line">
            <a:avLst/>
          </a:prstGeom>
          <a:ln w="19939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 flipV="1">
            <a:off x="6272640" y="1923881"/>
            <a:ext cx="1069380" cy="14345"/>
          </a:xfrm>
          <a:prstGeom prst="line">
            <a:avLst/>
          </a:prstGeom>
          <a:ln w="22733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8915040" y="1917083"/>
            <a:ext cx="511920" cy="360"/>
          </a:xfrm>
          <a:prstGeom prst="line">
            <a:avLst/>
          </a:prstGeom>
          <a:ln w="25527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658440" y="1572840"/>
            <a:ext cx="1572480" cy="731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86240" y="1645920"/>
            <a:ext cx="1316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Raw Documents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2743200" y="1572840"/>
            <a:ext cx="1572480" cy="731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2871360" y="1645920"/>
            <a:ext cx="1316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Retriever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4827960" y="1572840"/>
            <a:ext cx="1572480" cy="731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4956120" y="1645920"/>
            <a:ext cx="1316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Selector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7342200" y="1551683"/>
            <a:ext cx="1572480" cy="731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7470360" y="1624763"/>
            <a:ext cx="1316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9427320" y="1551683"/>
            <a:ext cx="2139480" cy="731160"/>
          </a:xfrm>
          <a:prstGeom prst="rect">
            <a:avLst/>
          </a:prstGeom>
          <a:solidFill>
            <a:srgbClr val="FFFFFF"/>
          </a:solidFill>
          <a:ln w="2159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9555120" y="1624763"/>
            <a:ext cx="1883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Final Answer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10049040" y="2429363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Reliable?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1581840" y="2313360"/>
            <a:ext cx="360" cy="438840"/>
          </a:xfrm>
          <a:prstGeom prst="line">
            <a:avLst/>
          </a:prstGeom>
          <a:ln w="13970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658440" y="2761560"/>
            <a:ext cx="1846800" cy="1142640"/>
          </a:xfrm>
          <a:prstGeom prst="rect">
            <a:avLst/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786240" y="2834640"/>
            <a:ext cx="1590840" cy="99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Fact hidden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in a figure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3666600" y="2313360"/>
            <a:ext cx="360" cy="438840"/>
          </a:xfrm>
          <a:prstGeom prst="line">
            <a:avLst/>
          </a:prstGeom>
          <a:ln w="16256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2743200" y="2761560"/>
            <a:ext cx="1846800" cy="1142640"/>
          </a:xfrm>
          <a:prstGeom prst="rect">
            <a:avLst/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2871360" y="2834640"/>
            <a:ext cx="1590840" cy="99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missed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5751360" y="2313360"/>
            <a:ext cx="360" cy="438840"/>
          </a:xfrm>
          <a:prstGeom prst="line">
            <a:avLst/>
          </a:prstGeom>
          <a:ln w="18542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4827960" y="2761560"/>
            <a:ext cx="2386080" cy="1142640"/>
          </a:xfrm>
          <a:prstGeom prst="rect">
            <a:avLst/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4956120" y="2834640"/>
            <a:ext cx="2211120" cy="99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7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Harmful evidence retained</a:t>
            </a:r>
            <a:endParaRPr lang="en-GB" sz="13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7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Required evidence removed</a:t>
            </a:r>
            <a:endParaRPr lang="en-GB" sz="13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8265600" y="2292203"/>
            <a:ext cx="360" cy="438840"/>
          </a:xfrm>
          <a:prstGeom prst="line">
            <a:avLst/>
          </a:prstGeom>
          <a:ln w="20828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9"/>
          <p:cNvSpPr/>
          <p:nvPr/>
        </p:nvSpPr>
        <p:spPr>
          <a:xfrm>
            <a:off x="7342200" y="2740403"/>
            <a:ext cx="2704680" cy="1142640"/>
          </a:xfrm>
          <a:prstGeom prst="rect">
            <a:avLst/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7470359" y="2813483"/>
            <a:ext cx="2194145" cy="99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7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Unsupported claims added</a:t>
            </a:r>
            <a:endParaRPr lang="en-GB" sz="13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7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Valid answers rejected</a:t>
            </a:r>
            <a:endParaRPr lang="en-GB" sz="13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1581840" y="4233600"/>
            <a:ext cx="7241760" cy="0"/>
          </a:xfrm>
          <a:prstGeom prst="line">
            <a:avLst/>
          </a:prstGeom>
          <a:ln w="1397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1581840" y="3904200"/>
            <a:ext cx="360" cy="329400"/>
          </a:xfrm>
          <a:prstGeom prst="line">
            <a:avLst/>
          </a:prstGeom>
          <a:ln w="12700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3"/>
          <p:cNvSpPr/>
          <p:nvPr/>
        </p:nvSpPr>
        <p:spPr>
          <a:xfrm>
            <a:off x="3666600" y="3904200"/>
            <a:ext cx="360" cy="329400"/>
          </a:xfrm>
          <a:prstGeom prst="line">
            <a:avLst/>
          </a:prstGeom>
          <a:ln w="14224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5751360" y="3904200"/>
            <a:ext cx="360" cy="329400"/>
          </a:xfrm>
          <a:prstGeom prst="line">
            <a:avLst/>
          </a:prstGeom>
          <a:ln w="15748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8265600" y="3883043"/>
            <a:ext cx="360" cy="329400"/>
          </a:xfrm>
          <a:prstGeom prst="line">
            <a:avLst/>
          </a:prstGeom>
          <a:ln w="17272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8823600" y="4212443"/>
            <a:ext cx="1664280" cy="360"/>
          </a:xfrm>
          <a:prstGeom prst="line">
            <a:avLst/>
          </a:prstGeom>
          <a:ln w="25400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10716480" y="3837683"/>
            <a:ext cx="58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8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9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Reliability is an end-to-end evidence-flow problem.</a:t>
            </a:r>
            <a:endParaRPr lang="en-GB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Retriever: Making Evidence Searchable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8366760" y="932760"/>
            <a:ext cx="3154320" cy="3470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8476560" y="969120"/>
            <a:ext cx="2934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Implemented and locally tested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2139480" y="1910880"/>
            <a:ext cx="475560" cy="360"/>
          </a:xfrm>
          <a:prstGeom prst="line">
            <a:avLst/>
          </a:prstGeom>
          <a:ln w="13335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2139480" y="2679120"/>
            <a:ext cx="475560" cy="360"/>
          </a:xfrm>
          <a:prstGeom prst="line">
            <a:avLst/>
          </a:prstGeom>
          <a:ln w="13335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2139480" y="3447000"/>
            <a:ext cx="475560" cy="360"/>
          </a:xfrm>
          <a:prstGeom prst="line">
            <a:avLst/>
          </a:prstGeom>
          <a:ln w="13335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2139480" y="4215240"/>
            <a:ext cx="475560" cy="360"/>
          </a:xfrm>
          <a:prstGeom prst="line">
            <a:avLst/>
          </a:prstGeom>
          <a:ln w="13335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2615040" y="1910880"/>
            <a:ext cx="360" cy="2304360"/>
          </a:xfrm>
          <a:prstGeom prst="line">
            <a:avLst/>
          </a:prstGeom>
          <a:ln w="13335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2615040" y="3063240"/>
            <a:ext cx="43884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4882680" y="3063240"/>
            <a:ext cx="45720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7315200" y="3063240"/>
            <a:ext cx="47520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8878680" y="2011680"/>
            <a:ext cx="360" cy="57600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9637560" y="3063240"/>
            <a:ext cx="45720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658440" y="1627560"/>
            <a:ext cx="1481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786240" y="1700640"/>
            <a:ext cx="1225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Text</a:t>
            </a:r>
            <a:endParaRPr lang="en-GB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658440" y="2395800"/>
            <a:ext cx="1481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786240" y="2468880"/>
            <a:ext cx="1225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PDF</a:t>
            </a:r>
            <a:endParaRPr lang="en-GB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658440" y="3163680"/>
            <a:ext cx="1481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786240" y="3237120"/>
            <a:ext cx="1225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Images</a:t>
            </a:r>
            <a:endParaRPr lang="en-GB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658440" y="3931920"/>
            <a:ext cx="1481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786240" y="4005000"/>
            <a:ext cx="1225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PDF Pictures</a:t>
            </a:r>
            <a:endParaRPr lang="en-GB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2"/>
          <p:cNvSpPr/>
          <p:nvPr/>
        </p:nvSpPr>
        <p:spPr>
          <a:xfrm>
            <a:off x="2221920" y="4050720"/>
            <a:ext cx="5299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2258640" y="4069080"/>
            <a:ext cx="4568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3054240" y="2322720"/>
            <a:ext cx="1828440" cy="148104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3227760" y="257868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Format-Aware</a:t>
            </a:r>
            <a:endParaRPr lang="en-GB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Ingestion</a:t>
            </a:r>
            <a:endParaRPr lang="en-GB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3086100" y="3233420"/>
            <a:ext cx="17827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PDF Structure</a:t>
            </a:r>
            <a:endParaRPr lang="en-GB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Image Captioning + OCR</a:t>
            </a:r>
            <a:endParaRPr lang="en-GB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5340240" y="2322720"/>
            <a:ext cx="1974600" cy="148104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5532120" y="2578680"/>
            <a:ext cx="1590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Unified Evidence</a:t>
            </a:r>
            <a:endParaRPr lang="en-GB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Documents</a:t>
            </a:r>
            <a:endParaRPr lang="en-GB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5532120" y="3209400"/>
            <a:ext cx="1590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Searchable Text · Source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Page when available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0"/>
          <p:cNvSpPr/>
          <p:nvPr/>
        </p:nvSpPr>
        <p:spPr>
          <a:xfrm>
            <a:off x="6016680" y="3913560"/>
            <a:ext cx="6213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6053400" y="39319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7790760" y="2587680"/>
            <a:ext cx="1846800" cy="95076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7918560" y="2660760"/>
            <a:ext cx="159084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Question-Based</a:t>
            </a:r>
            <a:endParaRPr lang="en-GB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Retrieval</a:t>
            </a:r>
            <a:endParaRPr lang="en-GB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4"/>
          <p:cNvSpPr/>
          <p:nvPr/>
        </p:nvSpPr>
        <p:spPr>
          <a:xfrm>
            <a:off x="7818120" y="3684960"/>
            <a:ext cx="1791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Keyword · Semantic · Hybrid</a:t>
            </a:r>
            <a:endParaRPr lang="en-GB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5"/>
          <p:cNvSpPr/>
          <p:nvPr/>
        </p:nvSpPr>
        <p:spPr>
          <a:xfrm>
            <a:off x="7973640" y="1517760"/>
            <a:ext cx="18100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6"/>
          <p:cNvSpPr/>
          <p:nvPr/>
        </p:nvSpPr>
        <p:spPr>
          <a:xfrm>
            <a:off x="8101440" y="159120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User Question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7"/>
          <p:cNvSpPr/>
          <p:nvPr/>
        </p:nvSpPr>
        <p:spPr>
          <a:xfrm>
            <a:off x="10095120" y="2322720"/>
            <a:ext cx="1435320" cy="148104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8"/>
          <p:cNvSpPr/>
          <p:nvPr/>
        </p:nvSpPr>
        <p:spPr>
          <a:xfrm>
            <a:off x="10222920" y="2395800"/>
            <a:ext cx="1179360" cy="13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Ranked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Candidate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Evidence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9"/>
          <p:cNvSpPr/>
          <p:nvPr/>
        </p:nvSpPr>
        <p:spPr>
          <a:xfrm>
            <a:off x="10506600" y="3913560"/>
            <a:ext cx="6213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0"/>
          <p:cNvSpPr/>
          <p:nvPr/>
        </p:nvSpPr>
        <p:spPr>
          <a:xfrm>
            <a:off x="10542960" y="39319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1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2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Make evidence searchable, then make it findable.</a:t>
            </a:r>
            <a:endParaRPr lang="en-GB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Retriever: Validation Plan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8119800" y="932760"/>
            <a:ext cx="3401280" cy="3470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8229600" y="96912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Experiments designed · Real-data runs pending</a:t>
            </a:r>
            <a:endParaRPr lang="en-GB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5623560" y="3227760"/>
            <a:ext cx="877680" cy="360"/>
          </a:xfrm>
          <a:prstGeom prst="line">
            <a:avLst/>
          </a:prstGeom>
          <a:ln w="2032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658440" y="1554480"/>
            <a:ext cx="4974120" cy="3968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6510600" y="1554480"/>
            <a:ext cx="5019840" cy="3968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960120" y="1810440"/>
            <a:ext cx="4297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1. EVIDENCE CONVERSION TEST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6812280" y="1810440"/>
            <a:ext cx="4297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2. RETRIEVAL COMPARISON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1024200" y="2304360"/>
            <a:ext cx="1416960" cy="105120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1143000" y="2441520"/>
            <a:ext cx="11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Embedded PDF image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1454040" y="2898720"/>
            <a:ext cx="566640" cy="30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1490400" y="2917080"/>
            <a:ext cx="4935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2496240" y="2834640"/>
            <a:ext cx="567000" cy="360"/>
          </a:xfrm>
          <a:prstGeom prst="line">
            <a:avLst/>
          </a:prstGeom>
          <a:ln w="1905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3072240" y="2304360"/>
            <a:ext cx="1572480" cy="10512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3200400" y="2441520"/>
            <a:ext cx="1316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 documents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3575160" y="2898720"/>
            <a:ext cx="566640" cy="30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3611880" y="2917080"/>
            <a:ext cx="4935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1033200" y="358452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Fact only inside an embedded PDF image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2834640" y="4005000"/>
            <a:ext cx="360" cy="347400"/>
          </a:xfrm>
          <a:prstGeom prst="line">
            <a:avLst/>
          </a:prstGeom>
          <a:ln w="1905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1225440" y="4370760"/>
            <a:ext cx="3218400" cy="78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1353240" y="4443840"/>
            <a:ext cx="296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Does the fact survive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in searchable text?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6931080" y="22129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Same benchmark · Same evidence collection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9015840" y="2578320"/>
            <a:ext cx="360" cy="311040"/>
          </a:xfrm>
          <a:prstGeom prst="line">
            <a:avLst/>
          </a:prstGeom>
          <a:ln w="1905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7443360" y="2907720"/>
            <a:ext cx="3145320" cy="60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7571160" y="29808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Compare retrieval approaches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7589520" y="3721680"/>
            <a:ext cx="2852640" cy="310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7726680" y="3740040"/>
            <a:ext cx="2578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1   Evidence with 42%</a:t>
            </a:r>
            <a:endParaRPr lang="en-GB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7589520" y="4133160"/>
            <a:ext cx="2852640" cy="310680"/>
          </a:xfrm>
          <a:prstGeom prst="rect">
            <a:avLst/>
          </a:prstGeom>
          <a:solidFill>
            <a:srgbClr val="F3F4F6"/>
          </a:solidFill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7726680" y="4151520"/>
            <a:ext cx="2578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   Related evidence</a:t>
            </a:r>
            <a:endParaRPr lang="en-GB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7589520" y="4544640"/>
            <a:ext cx="2852640" cy="310680"/>
          </a:xfrm>
          <a:prstGeom prst="rect">
            <a:avLst/>
          </a:prstGeom>
          <a:solidFill>
            <a:srgbClr val="F3F4F6"/>
          </a:solidFill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7726680" y="4563000"/>
            <a:ext cx="2578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3   Other evidence</a:t>
            </a:r>
            <a:endParaRPr lang="en-GB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6675120" y="509684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Find the correct evidence · Rank it near the top · Select the default Retriever</a:t>
            </a:r>
            <a:endParaRPr lang="en-GB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3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4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Validate evidence preservation first, then retrieval quality.</a:t>
            </a:r>
            <a:endParaRPr lang="en-GB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Selector: Comparing Candidate Evidence</a:t>
            </a:r>
            <a:endParaRPr lang="en-GB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8138160" y="932760"/>
            <a:ext cx="3382920" cy="3470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143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8247960" y="969120"/>
            <a:ext cx="3163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Deterministic Selector implemented and tested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2404800" y="1910880"/>
            <a:ext cx="47556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658440" y="1627560"/>
            <a:ext cx="1746000" cy="566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786240" y="1700640"/>
            <a:ext cx="1490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Source A   42%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2404800" y="2642400"/>
            <a:ext cx="47556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658440" y="2359080"/>
            <a:ext cx="1746000" cy="566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786240" y="2432160"/>
            <a:ext cx="1490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Source B   42%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2404800" y="3373920"/>
            <a:ext cx="47556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658440" y="3090600"/>
            <a:ext cx="1746000" cy="566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786240" y="3163680"/>
            <a:ext cx="1490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Source C   42%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2404800" y="4105440"/>
            <a:ext cx="47556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658440" y="3822120"/>
            <a:ext cx="1746000" cy="566640"/>
          </a:xfrm>
          <a:prstGeom prst="rect">
            <a:avLst/>
          </a:prstGeom>
          <a:solidFill>
            <a:srgbClr val="FFFFFF"/>
          </a:solidFill>
          <a:ln w="1143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786240" y="3895200"/>
            <a:ext cx="1490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Source D   40%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2880360" y="1910880"/>
            <a:ext cx="360" cy="21945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2880360" y="2999160"/>
            <a:ext cx="45720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1554480" y="4096440"/>
            <a:ext cx="749520" cy="360"/>
          </a:xfrm>
          <a:prstGeom prst="line">
            <a:avLst/>
          </a:prstGeom>
          <a:ln w="1270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3337560" y="2331720"/>
            <a:ext cx="2048040" cy="133452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3465720" y="2404800"/>
            <a:ext cx="17917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Compare what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sources say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1"/>
          <p:cNvSpPr/>
          <p:nvPr/>
        </p:nvSpPr>
        <p:spPr>
          <a:xfrm flipV="1">
            <a:off x="5385600" y="2029680"/>
            <a:ext cx="438840" cy="969480"/>
          </a:xfrm>
          <a:prstGeom prst="line">
            <a:avLst/>
          </a:prstGeom>
          <a:ln w="1460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5833800" y="1755720"/>
            <a:ext cx="21211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5961960" y="18288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Supported across sources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7955280" y="2039040"/>
            <a:ext cx="310680" cy="360"/>
          </a:xfrm>
          <a:prstGeom prst="line">
            <a:avLst/>
          </a:prstGeom>
          <a:ln w="1397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8211240" y="1783080"/>
            <a:ext cx="98712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8339400" y="185616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KEEP</a:t>
            </a:r>
            <a:endParaRPr lang="en-GB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5385600" y="2999160"/>
            <a:ext cx="438840" cy="73080"/>
          </a:xfrm>
          <a:prstGeom prst="line">
            <a:avLst/>
          </a:prstGeom>
          <a:ln w="14605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8"/>
          <p:cNvSpPr/>
          <p:nvPr/>
        </p:nvSpPr>
        <p:spPr>
          <a:xfrm>
            <a:off x="5833800" y="2797920"/>
            <a:ext cx="2121120" cy="566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9"/>
          <p:cNvSpPr/>
          <p:nvPr/>
        </p:nvSpPr>
        <p:spPr>
          <a:xfrm>
            <a:off x="5961960" y="287136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Clearly isolated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0"/>
          <p:cNvSpPr/>
          <p:nvPr/>
        </p:nvSpPr>
        <p:spPr>
          <a:xfrm>
            <a:off x="7955280" y="3081240"/>
            <a:ext cx="310680" cy="360"/>
          </a:xfrm>
          <a:prstGeom prst="line">
            <a:avLst/>
          </a:prstGeom>
          <a:ln w="13970">
            <a:solidFill>
              <a:srgbClr val="9AA0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1"/>
          <p:cNvSpPr/>
          <p:nvPr/>
        </p:nvSpPr>
        <p:spPr>
          <a:xfrm>
            <a:off x="8211240" y="2825640"/>
            <a:ext cx="987120" cy="51156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2"/>
          <p:cNvSpPr/>
          <p:nvPr/>
        </p:nvSpPr>
        <p:spPr>
          <a:xfrm>
            <a:off x="8339400" y="289872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REMOVE</a:t>
            </a:r>
            <a:endParaRPr lang="en-GB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3"/>
          <p:cNvSpPr/>
          <p:nvPr/>
        </p:nvSpPr>
        <p:spPr>
          <a:xfrm>
            <a:off x="5385600" y="2999160"/>
            <a:ext cx="438840" cy="1115640"/>
          </a:xfrm>
          <a:prstGeom prst="line">
            <a:avLst/>
          </a:prstGeom>
          <a:ln w="14605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5833800" y="3840480"/>
            <a:ext cx="21211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5"/>
          <p:cNvSpPr/>
          <p:nvPr/>
        </p:nvSpPr>
        <p:spPr>
          <a:xfrm>
            <a:off x="5961960" y="391356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Unclear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6"/>
          <p:cNvSpPr/>
          <p:nvPr/>
        </p:nvSpPr>
        <p:spPr>
          <a:xfrm>
            <a:off x="7955280" y="4123800"/>
            <a:ext cx="310680" cy="360"/>
          </a:xfrm>
          <a:prstGeom prst="line">
            <a:avLst/>
          </a:prstGeom>
          <a:ln w="13970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7"/>
          <p:cNvSpPr/>
          <p:nvPr/>
        </p:nvSpPr>
        <p:spPr>
          <a:xfrm>
            <a:off x="8211240" y="3867840"/>
            <a:ext cx="98712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8"/>
          <p:cNvSpPr/>
          <p:nvPr/>
        </p:nvSpPr>
        <p:spPr>
          <a:xfrm>
            <a:off x="8339400" y="394092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KEEP</a:t>
            </a:r>
            <a:endParaRPr lang="en-GB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9"/>
          <p:cNvSpPr/>
          <p:nvPr/>
        </p:nvSpPr>
        <p:spPr>
          <a:xfrm>
            <a:off x="9198720" y="2039040"/>
            <a:ext cx="41148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0"/>
          <p:cNvSpPr/>
          <p:nvPr/>
        </p:nvSpPr>
        <p:spPr>
          <a:xfrm>
            <a:off x="9198720" y="4123800"/>
            <a:ext cx="411480" cy="3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1"/>
          <p:cNvSpPr/>
          <p:nvPr/>
        </p:nvSpPr>
        <p:spPr>
          <a:xfrm>
            <a:off x="9610200" y="2039040"/>
            <a:ext cx="360" cy="2084760"/>
          </a:xfrm>
          <a:prstGeom prst="line">
            <a:avLst/>
          </a:prstGeom>
          <a:ln w="1270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2"/>
          <p:cNvSpPr/>
          <p:nvPr/>
        </p:nvSpPr>
        <p:spPr>
          <a:xfrm>
            <a:off x="9610200" y="3081240"/>
            <a:ext cx="393120" cy="360"/>
          </a:xfrm>
          <a:prstGeom prst="line">
            <a:avLst/>
          </a:prstGeom>
          <a:ln w="1778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3"/>
          <p:cNvSpPr/>
          <p:nvPr/>
        </p:nvSpPr>
        <p:spPr>
          <a:xfrm>
            <a:off x="10003680" y="2487240"/>
            <a:ext cx="1526760" cy="118836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4"/>
          <p:cNvSpPr/>
          <p:nvPr/>
        </p:nvSpPr>
        <p:spPr>
          <a:xfrm>
            <a:off x="10131480" y="2560320"/>
            <a:ext cx="1270800" cy="10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Selected Evidence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for Generator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5"/>
          <p:cNvSpPr/>
          <p:nvPr/>
        </p:nvSpPr>
        <p:spPr>
          <a:xfrm>
            <a:off x="10469880" y="3822120"/>
            <a:ext cx="6123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6"/>
          <p:cNvSpPr/>
          <p:nvPr/>
        </p:nvSpPr>
        <p:spPr>
          <a:xfrm>
            <a:off x="10506600" y="3840480"/>
            <a:ext cx="539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7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8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Keep supported evidence; remain cautious when the evidence is unclear.</a:t>
            </a:r>
            <a:endParaRPr lang="en-GB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Selector: Validation and Next Step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3785400" y="3337560"/>
            <a:ext cx="36576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7278480" y="3337560"/>
            <a:ext cx="365760" cy="360"/>
          </a:xfrm>
          <a:prstGeom prst="line">
            <a:avLst/>
          </a:prstGeom>
          <a:ln w="2032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658440" y="1481400"/>
            <a:ext cx="3126960" cy="395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4151520" y="1481400"/>
            <a:ext cx="3126960" cy="395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6"/>
          <p:cNvSpPr/>
          <p:nvPr/>
        </p:nvSpPr>
        <p:spPr>
          <a:xfrm>
            <a:off x="7644240" y="1481400"/>
            <a:ext cx="3885840" cy="395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932760" y="175572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EXPERIMENT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932760" y="21214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Same candidate evidence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932760" y="2633400"/>
            <a:ext cx="1051200" cy="138960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1060560" y="2706480"/>
            <a:ext cx="79524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2450520" y="2633400"/>
            <a:ext cx="1051200" cy="138960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2578680" y="2706480"/>
            <a:ext cx="79524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1188720" y="4160520"/>
            <a:ext cx="5299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OFF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2715840" y="4160520"/>
            <a:ext cx="5299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2030040" y="32187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941760" y="4617720"/>
            <a:ext cx="25326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Compare harmful and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required evidence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4425840" y="175572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FINDING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4425840" y="2112120"/>
            <a:ext cx="254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Filtering changes both sides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of the trade-off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9"/>
          <p:cNvSpPr/>
          <p:nvPr/>
        </p:nvSpPr>
        <p:spPr>
          <a:xfrm>
            <a:off x="4892040" y="2889360"/>
            <a:ext cx="360" cy="640080"/>
          </a:xfrm>
          <a:prstGeom prst="line">
            <a:avLst/>
          </a:prstGeom>
          <a:ln w="2540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0"/>
          <p:cNvSpPr/>
          <p:nvPr/>
        </p:nvSpPr>
        <p:spPr>
          <a:xfrm>
            <a:off x="4389120" y="3657600"/>
            <a:ext cx="10054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Less harmful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1"/>
          <p:cNvSpPr/>
          <p:nvPr/>
        </p:nvSpPr>
        <p:spPr>
          <a:xfrm>
            <a:off x="6345720" y="2889360"/>
            <a:ext cx="360" cy="640080"/>
          </a:xfrm>
          <a:prstGeom prst="line">
            <a:avLst/>
          </a:prstGeom>
          <a:ln w="16510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5733360" y="3620880"/>
            <a:ext cx="1225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Some required</a:t>
            </a:r>
            <a:endParaRPr lang="en-GB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 removed</a:t>
            </a:r>
            <a:endParaRPr lang="en-GB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3"/>
          <p:cNvSpPr/>
          <p:nvPr/>
        </p:nvSpPr>
        <p:spPr>
          <a:xfrm>
            <a:off x="4462200" y="4425840"/>
            <a:ext cx="2505240" cy="60300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4"/>
          <p:cNvSpPr/>
          <p:nvPr/>
        </p:nvSpPr>
        <p:spPr>
          <a:xfrm>
            <a:off x="4590360" y="4498920"/>
            <a:ext cx="2248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False conflicts remain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5"/>
          <p:cNvSpPr/>
          <p:nvPr/>
        </p:nvSpPr>
        <p:spPr>
          <a:xfrm>
            <a:off x="7927920" y="175572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NEXT METHOD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6"/>
          <p:cNvSpPr/>
          <p:nvPr/>
        </p:nvSpPr>
        <p:spPr>
          <a:xfrm>
            <a:off x="7927920" y="211212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Semantic Relationship Graph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7"/>
          <p:cNvSpPr/>
          <p:nvPr/>
        </p:nvSpPr>
        <p:spPr>
          <a:xfrm>
            <a:off x="8302680" y="294444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8"/>
          <p:cNvSpPr/>
          <p:nvPr/>
        </p:nvSpPr>
        <p:spPr>
          <a:xfrm>
            <a:off x="8339400" y="296280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9"/>
          <p:cNvSpPr/>
          <p:nvPr/>
        </p:nvSpPr>
        <p:spPr>
          <a:xfrm>
            <a:off x="9655920" y="254196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0"/>
          <p:cNvSpPr/>
          <p:nvPr/>
        </p:nvSpPr>
        <p:spPr>
          <a:xfrm>
            <a:off x="9692640" y="256032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1"/>
          <p:cNvSpPr/>
          <p:nvPr/>
        </p:nvSpPr>
        <p:spPr>
          <a:xfrm>
            <a:off x="10689480" y="320040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2"/>
          <p:cNvSpPr/>
          <p:nvPr/>
        </p:nvSpPr>
        <p:spPr>
          <a:xfrm>
            <a:off x="10735200" y="3218760"/>
            <a:ext cx="493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3"/>
          <p:cNvSpPr/>
          <p:nvPr/>
        </p:nvSpPr>
        <p:spPr>
          <a:xfrm flipV="1">
            <a:off x="8887680" y="2733840"/>
            <a:ext cx="768240" cy="365760"/>
          </a:xfrm>
          <a:prstGeom prst="line">
            <a:avLst/>
          </a:prstGeom>
          <a:ln w="2032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4"/>
          <p:cNvSpPr/>
          <p:nvPr/>
        </p:nvSpPr>
        <p:spPr>
          <a:xfrm>
            <a:off x="8878680" y="2487240"/>
            <a:ext cx="785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SUPPORT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5"/>
          <p:cNvSpPr/>
          <p:nvPr/>
        </p:nvSpPr>
        <p:spPr>
          <a:xfrm>
            <a:off x="10030680" y="2806920"/>
            <a:ext cx="640080" cy="493920"/>
          </a:xfrm>
          <a:prstGeom prst="line">
            <a:avLst/>
          </a:prstGeom>
          <a:ln w="1778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6"/>
          <p:cNvSpPr/>
          <p:nvPr/>
        </p:nvSpPr>
        <p:spPr>
          <a:xfrm>
            <a:off x="10232280" y="285300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REFUTE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7"/>
          <p:cNvSpPr/>
          <p:nvPr/>
        </p:nvSpPr>
        <p:spPr>
          <a:xfrm>
            <a:off x="8887680" y="3218400"/>
            <a:ext cx="1783080" cy="137160"/>
          </a:xfrm>
          <a:prstGeom prst="line">
            <a:avLst/>
          </a:prstGeom>
          <a:ln w="15240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8"/>
          <p:cNvSpPr/>
          <p:nvPr/>
        </p:nvSpPr>
        <p:spPr>
          <a:xfrm>
            <a:off x="9272160" y="3337560"/>
            <a:ext cx="785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UNKNOWN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9"/>
          <p:cNvSpPr/>
          <p:nvPr/>
        </p:nvSpPr>
        <p:spPr>
          <a:xfrm>
            <a:off x="7927920" y="4087440"/>
            <a:ext cx="3273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Repeat the same comparison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0"/>
          <p:cNvSpPr/>
          <p:nvPr/>
        </p:nvSpPr>
        <p:spPr>
          <a:xfrm>
            <a:off x="7973640" y="4590360"/>
            <a:ext cx="3181680" cy="4478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5875">
            <a:solidFill>
              <a:srgbClr val="D9D9D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41"/>
          <p:cNvSpPr/>
          <p:nvPr/>
        </p:nvSpPr>
        <p:spPr>
          <a:xfrm>
            <a:off x="8101440" y="4663440"/>
            <a:ext cx="2925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Semantic relation layer not yet implemented</a:t>
            </a:r>
            <a:endParaRPr lang="en-GB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2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3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9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Can semantic relations reduce false conflicts without weakening harmful-evidence filtering?</a:t>
            </a:r>
            <a:endParaRPr lang="en-GB" sz="187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Generator: From Evidence to Supported Answers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2212560" y="3017520"/>
            <a:ext cx="4392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 flipV="1">
            <a:off x="4041360" y="2359080"/>
            <a:ext cx="384120" cy="65844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4041360" y="3017520"/>
            <a:ext cx="384120" cy="65808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6446520" y="2359080"/>
            <a:ext cx="429480" cy="65844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 flipV="1">
            <a:off x="6446520" y="3017520"/>
            <a:ext cx="429480" cy="65808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8229600" y="3017520"/>
            <a:ext cx="3837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 flipV="1">
            <a:off x="9500400" y="1974960"/>
            <a:ext cx="585360" cy="1042560"/>
          </a:xfrm>
          <a:prstGeom prst="line">
            <a:avLst/>
          </a:prstGeom>
          <a:ln w="17145">
            <a:solidFill>
              <a:srgbClr val="11111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9500400" y="3017520"/>
            <a:ext cx="585360" cy="1042200"/>
          </a:xfrm>
          <a:prstGeom prst="line">
            <a:avLst/>
          </a:prstGeom>
          <a:ln w="15875">
            <a:solidFill>
              <a:srgbClr val="5F636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658440" y="2322720"/>
            <a:ext cx="1554120" cy="138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786240" y="2395800"/>
            <a:ext cx="129816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Question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Selected Evidence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1143000" y="384048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1179720" y="385884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4"/>
          <p:cNvSpPr/>
          <p:nvPr/>
        </p:nvSpPr>
        <p:spPr>
          <a:xfrm>
            <a:off x="2651760" y="2487240"/>
            <a:ext cx="1389600" cy="106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2779920" y="2560320"/>
            <a:ext cx="1133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Draft</a:t>
            </a:r>
            <a:endParaRPr lang="en-GB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Answer</a:t>
            </a:r>
            <a:endParaRPr lang="en-GB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4425840" y="1819800"/>
            <a:ext cx="2020320" cy="107856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4553640" y="1892880"/>
            <a:ext cx="17643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Check Evidence</a:t>
            </a:r>
            <a:endParaRPr lang="en-GB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Support</a:t>
            </a:r>
            <a:endParaRPr lang="en-GB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4425840" y="3136320"/>
            <a:ext cx="2020320" cy="1078560"/>
          </a:xfrm>
          <a:prstGeom prst="rect">
            <a:avLst/>
          </a:prstGeom>
          <a:solidFill>
            <a:srgbClr val="FFFFFF"/>
          </a:solidFill>
          <a:ln w="1968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4553640" y="3209400"/>
            <a:ext cx="17643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Check Answer</a:t>
            </a:r>
            <a:endParaRPr lang="en-GB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Completeness</a:t>
            </a:r>
            <a:endParaRPr lang="en-GB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0"/>
          <p:cNvSpPr/>
          <p:nvPr/>
        </p:nvSpPr>
        <p:spPr>
          <a:xfrm>
            <a:off x="6876360" y="2487240"/>
            <a:ext cx="1352880" cy="106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7004160" y="2560320"/>
            <a:ext cx="1096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Repair the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Answer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8485560" y="2359080"/>
            <a:ext cx="1133640" cy="1316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8659440" y="2743200"/>
            <a:ext cx="78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Sufficient</a:t>
            </a:r>
            <a:endParaRPr lang="en-GB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support?</a:t>
            </a:r>
            <a:endParaRPr lang="en-GB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10085760" y="1508760"/>
            <a:ext cx="1444320" cy="932400"/>
          </a:xfrm>
          <a:prstGeom prst="rect">
            <a:avLst/>
          </a:prstGeom>
          <a:solidFill>
            <a:srgbClr val="FFFFFF"/>
          </a:solidFill>
          <a:ln w="2095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10213920" y="1581840"/>
            <a:ext cx="118836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Answer +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Citations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6"/>
          <p:cNvSpPr/>
          <p:nvPr/>
        </p:nvSpPr>
        <p:spPr>
          <a:xfrm>
            <a:off x="10085760" y="3593520"/>
            <a:ext cx="1444320" cy="932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F63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10213920" y="3666600"/>
            <a:ext cx="118836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Honest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Abstention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8"/>
          <p:cNvSpPr/>
          <p:nvPr/>
        </p:nvSpPr>
        <p:spPr>
          <a:xfrm>
            <a:off x="10515600" y="257868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9"/>
          <p:cNvSpPr/>
          <p:nvPr/>
        </p:nvSpPr>
        <p:spPr>
          <a:xfrm>
            <a:off x="10552320" y="259704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0"/>
          <p:cNvSpPr/>
          <p:nvPr/>
        </p:nvSpPr>
        <p:spPr>
          <a:xfrm>
            <a:off x="9975960" y="4727520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Both are valid outcomes</a:t>
            </a:r>
            <a:endParaRPr lang="en-GB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658440" y="605340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Generate  →  Verify  →  Repair  →  Answer</a:t>
            </a:r>
            <a:endParaRPr lang="en-GB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658440" y="3841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Generator: Evidence and Next Validation</a:t>
            </a:r>
            <a:endParaRPr lang="en-GB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11018520" y="429840"/>
            <a:ext cx="52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658440" y="1298520"/>
            <a:ext cx="5486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WHAT WE HAVE VALIDATED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6931080" y="129852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1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WHAT REMAINS UNKNOWN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6565320" y="1444680"/>
            <a:ext cx="360" cy="4224600"/>
          </a:xfrm>
          <a:prstGeom prst="line">
            <a:avLst/>
          </a:prstGeom>
          <a:ln w="1270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658440" y="1682640"/>
            <a:ext cx="5486040" cy="175464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896040" y="1901880"/>
            <a:ext cx="261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Evidence-Support Verification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896040" y="2638120"/>
            <a:ext cx="3684960" cy="54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Six methods compared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TRUE selected as the evidence verifier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4316040" y="1947600"/>
            <a:ext cx="58500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4352400" y="1965960"/>
            <a:ext cx="51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5001840" y="1874520"/>
            <a:ext cx="1033200" cy="128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High support recognition</a:t>
            </a:r>
            <a:endParaRPr lang="en-GB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Low false support</a:t>
            </a:r>
            <a:endParaRPr lang="en-GB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713880" y="3639600"/>
            <a:ext cx="5486040" cy="175464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896040" y="386766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Answer-Completeness Verification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969120" y="4466700"/>
            <a:ext cx="2541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All labelled missing items detected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3895920" y="4059720"/>
            <a:ext cx="1956600" cy="109692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4013820" y="4473380"/>
            <a:ext cx="17002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Some unnecessary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warnings remained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6931080" y="1682640"/>
            <a:ext cx="4599000" cy="371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1"/>
          <p:cNvSpPr/>
          <p:nvPr/>
        </p:nvSpPr>
        <p:spPr>
          <a:xfrm>
            <a:off x="7836480" y="1965960"/>
            <a:ext cx="2797560" cy="5299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2"/>
          <p:cNvSpPr/>
          <p:nvPr/>
        </p:nvSpPr>
        <p:spPr>
          <a:xfrm>
            <a:off x="7964280" y="2039040"/>
            <a:ext cx="2541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Same Questions + Same Evidence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>
            <a:off x="9235440" y="2505240"/>
            <a:ext cx="360" cy="384120"/>
          </a:xfrm>
          <a:prstGeom prst="line">
            <a:avLst/>
          </a:prstGeom>
          <a:ln w="1905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7369920" y="2907720"/>
            <a:ext cx="1746000" cy="758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7498080" y="2980800"/>
            <a:ext cx="1490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Direct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6"/>
          <p:cNvSpPr/>
          <p:nvPr/>
        </p:nvSpPr>
        <p:spPr>
          <a:xfrm>
            <a:off x="9162360" y="3163680"/>
            <a:ext cx="310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7"/>
          <p:cNvSpPr/>
          <p:nvPr/>
        </p:nvSpPr>
        <p:spPr>
          <a:xfrm>
            <a:off x="9528120" y="2907720"/>
            <a:ext cx="1746000" cy="758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8"/>
          <p:cNvSpPr/>
          <p:nvPr/>
        </p:nvSpPr>
        <p:spPr>
          <a:xfrm>
            <a:off x="9655920" y="2980800"/>
            <a:ext cx="1490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Verified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Generator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8247600" y="3675600"/>
            <a:ext cx="987840" cy="384120"/>
          </a:xfrm>
          <a:prstGeom prst="line">
            <a:avLst/>
          </a:prstGeom>
          <a:ln w="1397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 flipH="1">
            <a:off x="9235440" y="3675600"/>
            <a:ext cx="1170360" cy="384120"/>
          </a:xfrm>
          <a:prstGeom prst="line">
            <a:avLst/>
          </a:prstGeom>
          <a:ln w="1397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9235440" y="4059720"/>
            <a:ext cx="360" cy="146520"/>
          </a:xfrm>
          <a:prstGeom prst="line">
            <a:avLst/>
          </a:prstGeom>
          <a:ln w="13970">
            <a:solidFill>
              <a:srgbClr val="9AA0A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2"/>
          <p:cNvSpPr/>
          <p:nvPr/>
        </p:nvSpPr>
        <p:spPr>
          <a:xfrm>
            <a:off x="7543800" y="4224600"/>
            <a:ext cx="3382920" cy="28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3"/>
          <p:cNvSpPr/>
          <p:nvPr/>
        </p:nvSpPr>
        <p:spPr>
          <a:xfrm>
            <a:off x="7671960" y="4242960"/>
            <a:ext cx="3126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Evidence Reliability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7543800" y="4608720"/>
            <a:ext cx="3382920" cy="28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5"/>
          <p:cNvSpPr/>
          <p:nvPr/>
        </p:nvSpPr>
        <p:spPr>
          <a:xfrm>
            <a:off x="7671960" y="4626720"/>
            <a:ext cx="3126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Answer Completeness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6"/>
          <p:cNvSpPr/>
          <p:nvPr/>
        </p:nvSpPr>
        <p:spPr>
          <a:xfrm>
            <a:off x="7543800" y="4992480"/>
            <a:ext cx="3382920" cy="28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9D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7"/>
          <p:cNvSpPr/>
          <p:nvPr/>
        </p:nvSpPr>
        <p:spPr>
          <a:xfrm>
            <a:off x="7671960" y="5010840"/>
            <a:ext cx="3126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Unnecessary Abstention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8"/>
          <p:cNvSpPr/>
          <p:nvPr/>
        </p:nvSpPr>
        <p:spPr>
          <a:xfrm>
            <a:off x="658080" y="5888520"/>
            <a:ext cx="10881360" cy="360"/>
          </a:xfrm>
          <a:prstGeom prst="line">
            <a:avLst/>
          </a:prstGeom>
          <a:ln w="10160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Research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2976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Arial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813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335024"/>
            <a:ext cx="175564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5F6368"/>
                </a:solidFill>
                <a:latin typeface="Arial"/>
              </a:rPr>
              <a:t>MAIN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1216152"/>
            <a:ext cx="8321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How can evidence remain reliable and traceable from source documents
to the final answer, without losing required information?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5024" y="2350008"/>
            <a:ext cx="10204704" cy="0"/>
          </a:xfrm>
          <a:prstGeom prst="line">
            <a:avLst/>
          </a:prstGeom>
          <a:ln w="1270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Triangle 9"/>
          <p:cNvSpPr/>
          <p:nvPr/>
        </p:nvSpPr>
        <p:spPr>
          <a:xfrm>
            <a:off x="4270248" y="2276856"/>
            <a:ext cx="146304" cy="146304"/>
          </a:xfrm>
          <a:prstGeom prst="rtTriangle">
            <a:avLst/>
          </a:prstGeom>
          <a:solidFill>
            <a:srgbClr val="888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Triangle 10"/>
          <p:cNvSpPr/>
          <p:nvPr/>
        </p:nvSpPr>
        <p:spPr>
          <a:xfrm>
            <a:off x="8019288" y="2276856"/>
            <a:ext cx="146304" cy="146304"/>
          </a:xfrm>
          <a:prstGeom prst="rtTriangle">
            <a:avLst/>
          </a:prstGeom>
          <a:solidFill>
            <a:srgbClr val="888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8163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RETRIEVER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138398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5F6368"/>
                </a:solidFill>
                <a:latin typeface="Arial"/>
              </a:rPr>
              <a:t>EVIDENCE VISIBILITY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" y="3493008"/>
            <a:ext cx="2926080" cy="0"/>
          </a:xfrm>
          <a:prstGeom prst="line">
            <a:avLst/>
          </a:prstGeom>
          <a:ln w="1270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" y="365760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0" b="1" dirty="0">
                <a:solidFill>
                  <a:srgbClr val="111111"/>
                </a:solidFill>
                <a:latin typeface="Arial"/>
              </a:rPr>
              <a:t>Can required evidence be preserved and found?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5065776"/>
            <a:ext cx="2926080" cy="310896"/>
          </a:xfrm>
          <a:prstGeom prst="rect">
            <a:avLst/>
          </a:prstGeom>
          <a:solidFill>
            <a:srgbClr val="F3F4F6"/>
          </a:solidFill>
          <a:ln w="1397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764024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</a:rPr>
              <a:t>Implemented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12064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rial"/>
              </a:rPr>
              <a:t>Validation 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615184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6008" y="28163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SELECTOR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138398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5F6368"/>
                </a:solidFill>
                <a:latin typeface="Arial"/>
              </a:rPr>
              <a:t>EVIDENCE RELIABILITY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36008" y="3493008"/>
            <a:ext cx="2926080" cy="0"/>
          </a:xfrm>
          <a:prstGeom prst="line">
            <a:avLst/>
          </a:prstGeom>
          <a:ln w="1270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36008" y="365760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111111"/>
                </a:solidFill>
                <a:latin typeface="Arial"/>
              </a:rPr>
              <a:t>Can misleading evidence be reduced without losing required evidence?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5065776"/>
            <a:ext cx="2926080" cy="310896"/>
          </a:xfrm>
          <a:prstGeom prst="rect">
            <a:avLst/>
          </a:prstGeom>
          <a:solidFill>
            <a:srgbClr val="F3F4F6"/>
          </a:solidFill>
          <a:ln w="1397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8" y="4764024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</a:rPr>
              <a:t>Initial method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512064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rial"/>
              </a:rPr>
              <a:t>Improvement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2615184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28163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138398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5F6368"/>
                </a:solidFill>
                <a:latin typeface="Arial"/>
              </a:rPr>
              <a:t>ANSWER VERIFIABILITY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85048" y="3493008"/>
            <a:ext cx="2926080" cy="0"/>
          </a:xfrm>
          <a:prstGeom prst="line">
            <a:avLst/>
          </a:prstGeom>
          <a:ln w="1270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85048" y="365760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111111"/>
                </a:solidFill>
                <a:latin typeface="Arial"/>
              </a:rPr>
              <a:t>Can the answer remain supported, complete and traceable?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5048" y="5065776"/>
            <a:ext cx="2926080" cy="310896"/>
          </a:xfrm>
          <a:prstGeom prst="rect">
            <a:avLst/>
          </a:prstGeom>
          <a:solidFill>
            <a:srgbClr val="F3F4F6"/>
          </a:solidFill>
          <a:ln w="1397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5048" y="4764024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</a:rPr>
              <a:t>Components 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512064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rial"/>
              </a:rPr>
              <a:t>Comparison pending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5779008"/>
            <a:ext cx="10881360" cy="0"/>
          </a:xfrm>
          <a:prstGeom prst="line">
            <a:avLst/>
          </a:prstGeom>
          <a:ln w="1016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5934456"/>
            <a:ext cx="108813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111111"/>
                </a:solidFill>
                <a:latin typeface="Arial"/>
              </a:rPr>
              <a:t>One research question. Three connected stages.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2976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2359152" cy="1508760"/>
          </a:xfrm>
          <a:prstGeom prst="rect">
            <a:avLst/>
          </a:prstGeom>
          <a:solidFill>
            <a:srgbClr val="FFFFFF"/>
          </a:solidFill>
          <a:ln w="1651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487168"/>
            <a:ext cx="2029968" cy="1069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"/>
              </a:rPr>
              <a:t>Complete
Module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3008" y="2286000"/>
            <a:ext cx="2359152" cy="1508760"/>
          </a:xfrm>
          <a:prstGeom prst="rect">
            <a:avLst/>
          </a:prstGeom>
          <a:solidFill>
            <a:srgbClr val="FFFFFF"/>
          </a:solidFill>
          <a:ln w="1651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2487168"/>
            <a:ext cx="2029968" cy="1069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"/>
              </a:rPr>
              <a:t>Confirm
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2286000"/>
            <a:ext cx="2359152" cy="1508760"/>
          </a:xfrm>
          <a:prstGeom prst="rect">
            <a:avLst/>
          </a:prstGeom>
          <a:solidFill>
            <a:srgbClr val="FFFFFF"/>
          </a:solidFill>
          <a:ln w="1651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487168"/>
            <a:ext cx="2029968" cy="1069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"/>
              </a:rPr>
              <a:t>Integrate
the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62288" y="2286000"/>
            <a:ext cx="2359152" cy="1508760"/>
          </a:xfrm>
          <a:prstGeom prst="rect">
            <a:avLst/>
          </a:prstGeom>
          <a:solidFill>
            <a:srgbClr val="FFFFFF"/>
          </a:solidFill>
          <a:ln w="16510">
            <a:solidFill>
              <a:srgbClr val="888B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2487168"/>
            <a:ext cx="2029968" cy="1069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"/>
              </a:rPr>
              <a:t>End-to-End
Validation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3044952"/>
            <a:ext cx="237743" cy="0"/>
          </a:xfrm>
          <a:prstGeom prst="line">
            <a:avLst/>
          </a:prstGeom>
          <a:ln w="17780">
            <a:solidFill>
              <a:srgbClr val="888B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Triangle 12"/>
          <p:cNvSpPr/>
          <p:nvPr/>
        </p:nvSpPr>
        <p:spPr>
          <a:xfrm>
            <a:off x="3282696" y="2971800"/>
            <a:ext cx="164592" cy="155448"/>
          </a:xfrm>
          <a:prstGeom prst="rtTriangle">
            <a:avLst/>
          </a:prstGeom>
          <a:solidFill>
            <a:srgbClr val="888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925312" y="3044952"/>
            <a:ext cx="237744" cy="0"/>
          </a:xfrm>
          <a:prstGeom prst="line">
            <a:avLst/>
          </a:prstGeom>
          <a:ln w="17780">
            <a:solidFill>
              <a:srgbClr val="888B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Triangle 14"/>
          <p:cNvSpPr/>
          <p:nvPr/>
        </p:nvSpPr>
        <p:spPr>
          <a:xfrm>
            <a:off x="6117336" y="2971800"/>
            <a:ext cx="164592" cy="155448"/>
          </a:xfrm>
          <a:prstGeom prst="rtTriangle">
            <a:avLst/>
          </a:prstGeom>
          <a:solidFill>
            <a:srgbClr val="888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8759952" y="3044952"/>
            <a:ext cx="237744" cy="0"/>
          </a:xfrm>
          <a:prstGeom prst="line">
            <a:avLst/>
          </a:prstGeom>
          <a:ln w="17780">
            <a:solidFill>
              <a:srgbClr val="888B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Triangle 16"/>
          <p:cNvSpPr/>
          <p:nvPr/>
        </p:nvSpPr>
        <p:spPr>
          <a:xfrm>
            <a:off x="8951976" y="2971800"/>
            <a:ext cx="164592" cy="155448"/>
          </a:xfrm>
          <a:prstGeom prst="rtTriangle">
            <a:avLst/>
          </a:prstGeom>
          <a:solidFill>
            <a:srgbClr val="888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590</Words>
  <Application>Microsoft Macintosh PowerPoint</Application>
  <PresentationFormat>Widescreen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Reliable Evidence Flow for RAG</dc:title>
  <dc:subject>Reliable evidence flow across Retriever, Selector, and Generator</dc:subject>
  <dc:creator>University of Bristol Summer Project</dc:creator>
  <dc:description/>
  <cp:lastModifiedBy>youjiaxi607@outlook.com</cp:lastModifiedBy>
  <cp:revision>3</cp:revision>
  <dcterms:created xsi:type="dcterms:W3CDTF">2026-07-30T21:49:48Z</dcterms:created>
  <dcterms:modified xsi:type="dcterms:W3CDTF">2026-07-31T00:17:52Z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